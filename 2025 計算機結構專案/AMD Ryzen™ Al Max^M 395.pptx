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0" r:id="rId4"/>
    <p:sldId id="258" r:id="rId5"/>
    <p:sldId id="259" r:id="rId6"/>
    <p:sldId id="267" r:id="rId7"/>
    <p:sldId id="270" r:id="rId8"/>
    <p:sldId id="268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800000"/>
    <a:srgbClr val="5C0000"/>
    <a:srgbClr val="FF0000"/>
    <a:srgbClr val="FFFFFF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3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iyi4968@gmail.com" userId="7f540958d7299ea5" providerId="LiveId" clId="{126D0111-5D6A-4F80-AFF1-DF8BF2EED9B0}"/>
    <pc:docChg chg="custSel modSld">
      <pc:chgData name="baiyi4968@gmail.com" userId="7f540958d7299ea5" providerId="LiveId" clId="{126D0111-5D6A-4F80-AFF1-DF8BF2EED9B0}" dt="2025-11-10T14:23:14.719" v="1"/>
      <pc:docMkLst>
        <pc:docMk/>
      </pc:docMkLst>
      <pc:sldChg chg="delSp mod">
        <pc:chgData name="baiyi4968@gmail.com" userId="7f540958d7299ea5" providerId="LiveId" clId="{126D0111-5D6A-4F80-AFF1-DF8BF2EED9B0}" dt="2025-11-10T14:23:09.849" v="0" actId="21"/>
        <pc:sldMkLst>
          <pc:docMk/>
          <pc:sldMk cId="1067876351" sldId="257"/>
        </pc:sldMkLst>
        <pc:picChg chg="del">
          <ac:chgData name="baiyi4968@gmail.com" userId="7f540958d7299ea5" providerId="LiveId" clId="{126D0111-5D6A-4F80-AFF1-DF8BF2EED9B0}" dt="2025-11-10T14:23:09.849" v="0" actId="21"/>
          <ac:picMkLst>
            <pc:docMk/>
            <pc:sldMk cId="1067876351" sldId="257"/>
            <ac:picMk id="4" creationId="{0288171C-ED08-397A-FAE9-84BA514D2C2B}"/>
          </ac:picMkLst>
        </pc:picChg>
      </pc:sldChg>
      <pc:sldChg chg="addSp modSp">
        <pc:chgData name="baiyi4968@gmail.com" userId="7f540958d7299ea5" providerId="LiveId" clId="{126D0111-5D6A-4F80-AFF1-DF8BF2EED9B0}" dt="2025-11-10T14:23:14.719" v="1"/>
        <pc:sldMkLst>
          <pc:docMk/>
          <pc:sldMk cId="101757820" sldId="270"/>
        </pc:sldMkLst>
        <pc:picChg chg="add mod">
          <ac:chgData name="baiyi4968@gmail.com" userId="7f540958d7299ea5" providerId="LiveId" clId="{126D0111-5D6A-4F80-AFF1-DF8BF2EED9B0}" dt="2025-11-10T14:23:14.719" v="1"/>
          <ac:picMkLst>
            <pc:docMk/>
            <pc:sldMk cId="101757820" sldId="270"/>
            <ac:picMk id="4" creationId="{0288171C-ED08-397A-FAE9-84BA514D2C2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76751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67187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47470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54876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7087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59183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65434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9468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0341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61278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46347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CC1EF3-05CF-47D4-B5E3-7C5CCE1DBA52}" type="datetimeFigureOut">
              <a:rPr lang="en-MY" smtClean="0"/>
              <a:t>10/11/2025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28BB21-8522-4756-AC98-AA0512C3453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22561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28A356-C491-D087-E447-9E62CDE4E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231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AMD Ryzen™ Al Max+ 395</a:t>
            </a:r>
            <a:b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</a:br>
            <a:r>
              <a:rPr lang="zh-CN" altLang="en-US" sz="2700" b="1" dirty="0">
                <a:solidFill>
                  <a:schemeClr val="bg1"/>
                </a:solidFill>
                <a:latin typeface="+mn-ea"/>
              </a:rPr>
              <a:t>製程：</a:t>
            </a:r>
            <a:r>
              <a:rPr lang="en-MY" altLang="zh-CN" sz="2700" b="1" dirty="0">
                <a:solidFill>
                  <a:schemeClr val="bg1"/>
                </a:solidFill>
                <a:latin typeface="+mn-ea"/>
              </a:rPr>
              <a:t>TSMC N4P</a:t>
            </a:r>
            <a:br>
              <a:rPr lang="en-MY" altLang="zh-CN" b="1" dirty="0">
                <a:solidFill>
                  <a:schemeClr val="bg1"/>
                </a:solidFill>
                <a:latin typeface="+mn-ea"/>
              </a:rPr>
            </a:br>
            <a:br>
              <a:rPr lang="en-MY" dirty="0">
                <a:solidFill>
                  <a:schemeClr val="bg1"/>
                </a:solidFill>
              </a:rPr>
            </a:b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51AD8BD-6E22-CD79-EAFB-D0F0650F9E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01257174	</a:t>
            </a:r>
            <a:r>
              <a:rPr lang="zh-CN" altLang="en-US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林偉翔</a:t>
            </a:r>
            <a:r>
              <a:rPr lang="en-MY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 </a:t>
            </a:r>
          </a:p>
          <a:p>
            <a:r>
              <a:rPr lang="en-MY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01257176	</a:t>
            </a:r>
            <a:r>
              <a:rPr lang="zh-CN" altLang="en-US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許能翔</a:t>
            </a:r>
            <a:endParaRPr lang="en-MY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69470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100F0C-BC28-89AA-1962-8F21DB7FE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AMD Ryzen™ Al Max+ 395 </a:t>
            </a:r>
            <a:r>
              <a:rPr lang="en-US" altLang="zh-CN" sz="2500" b="1" u="sng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CPU</a:t>
            </a:r>
            <a:endParaRPr lang="en-MY" sz="2500" b="1" u="sng" dirty="0">
              <a:solidFill>
                <a:schemeClr val="bg1"/>
              </a:solidFill>
            </a:endParaRPr>
          </a:p>
        </p:txBody>
      </p:sp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56453CD7-4D19-3784-99E3-E6D33A8F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7513"/>
            <a:ext cx="4491182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16 Cores 32 Threads</a:t>
            </a:r>
          </a:p>
          <a:p>
            <a:pPr marL="0" indent="0">
              <a:buNone/>
            </a:pP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Clock </a:t>
            </a:r>
          </a:p>
          <a:p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Up to 5.1GHz</a:t>
            </a:r>
          </a:p>
          <a:p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Base clock 3GHz</a:t>
            </a:r>
          </a:p>
          <a:p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TDP 55W</a:t>
            </a:r>
          </a:p>
          <a:p>
            <a:pPr marL="0" indent="0">
              <a:buNone/>
            </a:pP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marL="0" indent="0">
              <a:buNone/>
            </a:pPr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Cache</a:t>
            </a:r>
          </a:p>
          <a:p>
            <a:r>
              <a:rPr lang="en-US" altLang="zh-CN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L1 1.28 MB ( 80KB per core)</a:t>
            </a:r>
          </a:p>
          <a:p>
            <a:r>
              <a:rPr lang="en-US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L2 16 MB ( 1MB per core)</a:t>
            </a:r>
          </a:p>
          <a:p>
            <a:r>
              <a:rPr lang="en-US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L3 64 MB</a:t>
            </a:r>
          </a:p>
          <a:p>
            <a:pPr marL="0" indent="0">
              <a:buNone/>
            </a:pP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marL="0" indent="0">
              <a:buNone/>
            </a:pP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5778CE4E-B657-A123-01A7-46DCF0F25FAB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9" name="内容占位符 14">
            <a:extLst>
              <a:ext uri="{FF2B5EF4-FFF2-40B4-BE49-F238E27FC236}">
                <a16:creationId xmlns:a16="http://schemas.microsoft.com/office/drawing/2014/main" id="{EB77AF7E-3D16-6BB6-AE34-FAF65621F79D}"/>
              </a:ext>
            </a:extLst>
          </p:cNvPr>
          <p:cNvSpPr txBox="1">
            <a:spLocks/>
          </p:cNvSpPr>
          <p:nvPr/>
        </p:nvSpPr>
        <p:spPr>
          <a:xfrm>
            <a:off x="6096000" y="1687513"/>
            <a:ext cx="4491182" cy="3531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b="1" dirty="0">
                <a:solidFill>
                  <a:schemeClr val="bg1"/>
                </a:solidFill>
                <a:latin typeface="+mn-ea"/>
              </a:rPr>
              <a:t>架構：</a:t>
            </a:r>
            <a:r>
              <a:rPr lang="en-MY" altLang="zh-CN" b="1" dirty="0">
                <a:solidFill>
                  <a:schemeClr val="bg1"/>
                </a:solidFill>
                <a:latin typeface="+mn-ea"/>
              </a:rPr>
              <a:t>Zen 5</a:t>
            </a:r>
            <a:endParaRPr lang="en-MY" b="1" dirty="0">
              <a:solidFill>
                <a:schemeClr val="bg1"/>
              </a:solidFill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MY" altLang="zh-CN" b="1" dirty="0">
              <a:solidFill>
                <a:schemeClr val="bg1"/>
              </a:solidFill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MY" altLang="zh-CN" b="1" dirty="0">
              <a:solidFill>
                <a:schemeClr val="bg1"/>
              </a:solidFill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MY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67876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BCF37-0D6A-A4CC-5585-BE4C836F7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5989A2DD-0510-3BA8-90C4-DE14609CE884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3A0DD234-897A-DF50-A96D-AC9DB4FB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chemeClr val="bg1"/>
                </a:solidFill>
                <a:latin typeface="+mn-ea"/>
              </a:rPr>
              <a:t>N4P vs others..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50601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887BFE-69D4-9ED9-3365-25831C3E9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AMD Ryzen™ Al Max+ 395 </a:t>
            </a:r>
            <a:r>
              <a:rPr lang="en-US" sz="2500" b="1" u="sng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GPU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FDB79-A340-1E69-2787-53E908651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3836" cy="4307320"/>
          </a:xfrm>
        </p:spPr>
        <p:txBody>
          <a:bodyPr/>
          <a:lstStyle/>
          <a:p>
            <a:pPr marL="0" indent="0">
              <a:buNone/>
            </a:pP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型號：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Radeon 8060s Graphics</a:t>
            </a: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r>
              <a:rPr lang="en-MY" altLang="zh-CN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Graphic Core Count</a:t>
            </a:r>
            <a:r>
              <a:rPr lang="zh-CN" altLang="en-US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：</a:t>
            </a:r>
            <a:r>
              <a:rPr lang="en-MY" altLang="zh-CN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40</a:t>
            </a:r>
          </a:p>
          <a:p>
            <a:r>
              <a:rPr lang="en-US" altLang="zh-CN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Graphic Frequency: 2900MHz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采用</a:t>
            </a:r>
            <a:r>
              <a:rPr lang="en-MY" altLang="zh-CN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 RDNA 3.5 GPU</a:t>
            </a:r>
            <a:r>
              <a:rPr lang="zh-CN" altLang="en-US" sz="20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 架構</a:t>
            </a:r>
            <a:endParaRPr lang="en-MY" altLang="zh-CN" sz="2000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F150A24-6D9A-71D6-7F70-6991DF1952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6974" y="2776634"/>
            <a:ext cx="7023101" cy="399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079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66AAA-9F31-25D7-1E38-F103EEF7F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E1ABB6-C22F-3D49-850E-DE70D770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AMD Ryzen™ Al Max+ 395 </a:t>
            </a:r>
            <a:r>
              <a:rPr lang="zh-CN" altLang="en-US" sz="2500" b="1" u="sng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封裝設計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F7CDDD6-425D-22D0-08B3-3765463587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96" t="8268" r="18225" b="38241"/>
          <a:stretch>
            <a:fillRect/>
          </a:stretch>
        </p:blipFill>
        <p:spPr>
          <a:xfrm>
            <a:off x="1248152" y="2115127"/>
            <a:ext cx="3453157" cy="2900651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848AC71-6893-FFE0-D1A8-1A5A4EC38C15}"/>
              </a:ext>
            </a:extLst>
          </p:cNvPr>
          <p:cNvSpPr txBox="1"/>
          <p:nvPr/>
        </p:nvSpPr>
        <p:spPr>
          <a:xfrm>
            <a:off x="4701309" y="3360222"/>
            <a:ext cx="66524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altLang="zh-CN" sz="28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Socket</a:t>
            </a:r>
            <a:r>
              <a:rPr lang="zh-CN" altLang="en-US" sz="28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：</a:t>
            </a:r>
            <a:r>
              <a:rPr lang="en-MY" altLang="zh-CN" sz="28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FP11 ( Mobile Packaging )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3FD22F5-1AC8-CDA1-9846-9E69954E7F57}"/>
              </a:ext>
            </a:extLst>
          </p:cNvPr>
          <p:cNvSpPr txBox="1"/>
          <p:nvPr/>
        </p:nvSpPr>
        <p:spPr>
          <a:xfrm>
            <a:off x="1589275" y="5015778"/>
            <a:ext cx="2770909" cy="3690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( Chiplet 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設計 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2.5D 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封裝 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)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60464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075E06-F6E2-416B-BC1A-40C0E1A0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E05E39B0-83CC-78B9-CBBA-5A698EB7192D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E3DB403A-B102-07DD-0AC2-AF3836C8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AMD Ryzen™ Al Max+ 395 </a:t>
            </a:r>
            <a:r>
              <a:rPr lang="zh-CN" altLang="en-US" sz="2500" b="1" u="sng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其他</a:t>
            </a:r>
            <a:endParaRPr lang="en-MY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35A73B2-16B8-6D87-4971-288C22F77056}"/>
              </a:ext>
            </a:extLst>
          </p:cNvPr>
          <p:cNvSpPr txBox="1"/>
          <p:nvPr/>
        </p:nvSpPr>
        <p:spPr>
          <a:xfrm>
            <a:off x="942108" y="1825625"/>
            <a:ext cx="964507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</a:rPr>
              <a:t>功能</a:t>
            </a:r>
            <a:r>
              <a:rPr lang="en-MY" altLang="zh-CN" sz="2800" b="1" dirty="0">
                <a:solidFill>
                  <a:schemeClr val="bg1"/>
                </a:solidFill>
              </a:rPr>
              <a:t>(</a:t>
            </a:r>
            <a:r>
              <a:rPr lang="zh-CN" altLang="en-US" sz="2800" b="1" dirty="0">
                <a:solidFill>
                  <a:schemeClr val="bg1"/>
                </a:solidFill>
              </a:rPr>
              <a:t>支援</a:t>
            </a:r>
            <a:r>
              <a:rPr lang="en-MY" altLang="zh-CN" sz="2800" b="1" dirty="0">
                <a:solidFill>
                  <a:schemeClr val="bg1"/>
                </a:solidFill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MY" altLang="zh-CN" sz="2000" b="1" dirty="0">
                <a:solidFill>
                  <a:schemeClr val="bg1"/>
                </a:solidFill>
              </a:rPr>
              <a:t>Precision Boost Overdrive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MY" altLang="zh-CN" sz="2000" b="1" dirty="0">
                <a:solidFill>
                  <a:schemeClr val="bg1"/>
                </a:solidFill>
              </a:rPr>
              <a:t>Curve Optimizer Voltage Offsets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MY" altLang="zh-CN" sz="2000" b="1" dirty="0">
                <a:solidFill>
                  <a:schemeClr val="bg1"/>
                </a:solidFill>
              </a:rPr>
              <a:t>AMD Ryzen AI</a:t>
            </a:r>
          </a:p>
          <a:p>
            <a:endParaRPr lang="en-MY" altLang="zh-CN" sz="2000" b="1" dirty="0">
              <a:solidFill>
                <a:schemeClr val="bg1"/>
              </a:solidFill>
            </a:endParaRPr>
          </a:p>
          <a:p>
            <a:r>
              <a:rPr lang="zh-CN" altLang="en-US" sz="2800" b="1" dirty="0">
                <a:solidFill>
                  <a:schemeClr val="bg1"/>
                </a:solidFill>
              </a:rPr>
              <a:t>附加</a:t>
            </a:r>
            <a:endParaRPr lang="en-MY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MY" sz="2000" b="1" dirty="0">
                <a:solidFill>
                  <a:schemeClr val="bg1"/>
                </a:solidFill>
              </a:rPr>
              <a:t>NPU (up to 50 TOPS, Overall up to 126 TOPS)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MY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9490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AA0CA-6304-3B8D-28C8-C354C768B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C845BC2A-2B18-AE26-1754-C84D46594296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072DC660-31C6-62C0-793D-9F92648DA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深入架構的解析</a:t>
            </a: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D7C2915-32DD-B4FE-6D48-0B2EC65D7066}"/>
              </a:ext>
            </a:extLst>
          </p:cNvPr>
          <p:cNvSpPr txBox="1"/>
          <p:nvPr/>
        </p:nvSpPr>
        <p:spPr>
          <a:xfrm>
            <a:off x="771525" y="2254250"/>
            <a:ext cx="5458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chemeClr val="bg1"/>
                </a:solidFill>
              </a:rPr>
              <a:t>RDNA 3.5 </a:t>
            </a:r>
            <a:r>
              <a:rPr lang="zh-CN" altLang="en-US" dirty="0">
                <a:solidFill>
                  <a:schemeClr val="bg1"/>
                </a:solidFill>
              </a:rPr>
              <a:t>和 </a:t>
            </a:r>
            <a:r>
              <a:rPr lang="en-MY" altLang="zh-CN" dirty="0">
                <a:solidFill>
                  <a:schemeClr val="bg1"/>
                </a:solidFill>
              </a:rPr>
              <a:t>Zen 5</a:t>
            </a:r>
            <a:r>
              <a:rPr lang="zh-CN" altLang="en-US" dirty="0">
                <a:solidFill>
                  <a:schemeClr val="bg1"/>
                </a:solidFill>
              </a:rPr>
              <a:t>架構的解析</a:t>
            </a:r>
            <a:r>
              <a:rPr lang="en-MY" altLang="zh-CN" dirty="0">
                <a:solidFill>
                  <a:schemeClr val="bg1"/>
                </a:solidFill>
              </a:rPr>
              <a:t>..</a:t>
            </a:r>
            <a:endParaRPr lang="en-MY" dirty="0">
              <a:solidFill>
                <a:schemeClr val="bg1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288171C-ED08-397A-FAE9-84BA514D2C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07" y="2701925"/>
            <a:ext cx="7060685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57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BD9146-0B5A-AD2C-C6B1-6C4D77F5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E3D5B53C-0500-B9E1-B226-71B6E7CE13B5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737F1110-BA26-1642-A5E7-66E901625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統一内存架構</a:t>
            </a:r>
            <a:r>
              <a:rPr lang="en-MY" altLang="zh-CN" sz="2500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Unified Memory Architecture</a:t>
            </a:r>
            <a:endParaRPr lang="en-MY" sz="2500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4AFA9A6-7588-64A2-C82D-F83937E725A6}"/>
              </a:ext>
            </a:extLst>
          </p:cNvPr>
          <p:cNvSpPr txBox="1"/>
          <p:nvPr/>
        </p:nvSpPr>
        <p:spPr>
          <a:xfrm>
            <a:off x="838200" y="1520939"/>
            <a:ext cx="6077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LLM(Large Language Model) 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相關應用的優勢</a:t>
            </a:r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..</a:t>
            </a: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29F2E7-C51C-063B-D75C-C0653300B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88082"/>
            <a:ext cx="3131172" cy="185059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63827FA-1D72-809D-9092-C19BBD0664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5" t="6807" r="4275" b="6329"/>
          <a:stretch>
            <a:fillRect/>
          </a:stretch>
        </p:blipFill>
        <p:spPr bwMode="auto">
          <a:xfrm>
            <a:off x="838200" y="4670014"/>
            <a:ext cx="2124075" cy="218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>
            <a:extLst>
              <a:ext uri="{FF2B5EF4-FFF2-40B4-BE49-F238E27FC236}">
                <a16:creationId xmlns:a16="http://schemas.microsoft.com/office/drawing/2014/main" id="{E2C18222-D42F-133A-0950-AA3D18C463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MY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08E8860-D7CE-BFB5-7E8F-BDF0C65EEC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809" y="4638675"/>
            <a:ext cx="3682439" cy="220027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56F758F-C020-7EA3-C358-DF59A16567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809" y="2237622"/>
            <a:ext cx="3682439" cy="22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757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D859A-D923-8BE2-6D8E-9B357FA33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14">
            <a:extLst>
              <a:ext uri="{FF2B5EF4-FFF2-40B4-BE49-F238E27FC236}">
                <a16:creationId xmlns:a16="http://schemas.microsoft.com/office/drawing/2014/main" id="{648D3A44-772A-3848-3C22-88330B54E3BF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4911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5" name="标题 5">
            <a:extLst>
              <a:ext uri="{FF2B5EF4-FFF2-40B4-BE49-F238E27FC236}">
                <a16:creationId xmlns:a16="http://schemas.microsoft.com/office/drawing/2014/main" id="{35C1745A-DA45-E209-F151-40902E7BF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數據對比</a:t>
            </a: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828E959-126A-3C20-6352-7226DF944FB8}"/>
              </a:ext>
            </a:extLst>
          </p:cNvPr>
          <p:cNvSpPr txBox="1"/>
          <p:nvPr/>
        </p:nvSpPr>
        <p:spPr>
          <a:xfrm>
            <a:off x="838200" y="1956088"/>
            <a:ext cx="829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實際數據與其他競品對比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..(LLM 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應用的每秒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token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量，</a:t>
            </a:r>
            <a:r>
              <a:rPr lang="en-US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CPU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 r23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的跑分以及使用</a:t>
            </a:r>
            <a:r>
              <a:rPr lang="en-MY" altLang="zh-CN" b="1" dirty="0" err="1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Timespy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 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作爲</a:t>
            </a:r>
            <a:r>
              <a:rPr lang="en-MY" altLang="zh-CN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GPU</a:t>
            </a:r>
            <a:r>
              <a:rPr lang="zh-CN" altLang="en-US" b="1" dirty="0">
                <a:solidFill>
                  <a:schemeClr val="bg1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跑分的項目）</a:t>
            </a:r>
            <a:endParaRPr lang="en-MY" b="1" dirty="0">
              <a:solidFill>
                <a:schemeClr val="bg1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9392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257</TotalTime>
  <Words>243</Words>
  <Application>Microsoft Office PowerPoint</Application>
  <PresentationFormat>宽屏</PresentationFormat>
  <Paragraphs>42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DengXian</vt:lpstr>
      <vt:lpstr>Arial</vt:lpstr>
      <vt:lpstr>Calibri</vt:lpstr>
      <vt:lpstr>Calibri Light</vt:lpstr>
      <vt:lpstr>Office 主题​​</vt:lpstr>
      <vt:lpstr>AMD Ryzen™ Al Max+ 395 製程：TSMC N4P  </vt:lpstr>
      <vt:lpstr>AMD Ryzen™ Al Max+ 395 CPU</vt:lpstr>
      <vt:lpstr>N4P vs others..</vt:lpstr>
      <vt:lpstr>AMD Ryzen™ Al Max+ 395 GPU</vt:lpstr>
      <vt:lpstr>AMD Ryzen™ Al Max+ 395 封裝設計</vt:lpstr>
      <vt:lpstr>AMD Ryzen™ Al Max+ 395 其他</vt:lpstr>
      <vt:lpstr>深入架構的解析</vt:lpstr>
      <vt:lpstr>統一内存架構Unified Memory Architecture</vt:lpstr>
      <vt:lpstr>數據對比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baiyi4968@gmail.com</dc:creator>
  <cp:lastModifiedBy>baiyi4968@gmail.com</cp:lastModifiedBy>
  <cp:revision>2</cp:revision>
  <dcterms:created xsi:type="dcterms:W3CDTF">2025-11-10T09:58:57Z</dcterms:created>
  <dcterms:modified xsi:type="dcterms:W3CDTF">2025-11-10T14:23:16Z</dcterms:modified>
</cp:coreProperties>
</file>